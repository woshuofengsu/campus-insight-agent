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F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5976" y="1299591"/>
            <a:ext cx="5138928" cy="3252978"/>
          </a:xfrm>
          <a:prstGeom prst="roundRect">
            <a:avLst>
              <a:gd name="adj" fmla="val 3000"/>
            </a:avLst>
          </a:prstGeom>
          <a:solidFill>
            <a:srgbClr val="24406E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54455"/>
            <a:ext cx="5029200" cy="3143250"/>
          </a:xfrm>
          <a:prstGeom prst="rect">
            <a:avLst/>
          </a:prstGeom>
          <a:ln w="12700">
            <a:solidFill>
              <a:srgbClr val="3A4E7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1298448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212848"/>
            <a:ext cx="5760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FD2F2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272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767328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8E0F0"/>
                </a:solidFill>
                <a:latin typeface="微软雅黑"/>
                <a:ea typeface="微软雅黑"/>
                <a:cs typeface="微软雅黑"/>
              </a:rPr>
              <a:t>北京工商大学 · 步承泽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87952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AEC4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痛点 → 是什么 → 怎么搭 → 怎么协作 → AI 可控 → 三端细看 → 数字 → 诉求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422392" cy="199339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58952" y="1691640"/>
            <a:ext cx="713232" cy="713232"/>
          </a:xfrm>
          <a:prstGeom prst="ellipse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" y="169164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3352" y="1709928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网格员 · 重复劳动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2350008"/>
            <a:ext cx="4069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派单、沟通靠人工在群里翻，一件事重复好几遍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22392" cy="199339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19672" y="1691640"/>
            <a:ext cx="713232" cy="713232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9672" y="169164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34071" y="1709928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老年人 · 用不来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4071" y="2350008"/>
            <a:ext cx="4069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不会用智能手机，真有急事时，求助反而最慢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57600"/>
            <a:ext cx="5422392" cy="199339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3931920"/>
            <a:ext cx="713232" cy="713232"/>
          </a:xfrm>
          <a:prstGeom prst="ellipse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952" y="393192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3352" y="3950208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政策问答 · 不敢信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3352" y="4590288"/>
            <a:ext cx="4069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网上答案没有出处和时效，居民不敢照着办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657600"/>
            <a:ext cx="5422392" cy="199339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9672" y="3931920"/>
            <a:ext cx="713232" cy="713232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93192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4071" y="3950208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部门之间 · 不联动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1" y="4590288"/>
            <a:ext cx="4069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天气、健康、通知分属不同部门，出事没人主动串起来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说明：问题来自公开信息与身边观察的梳理，尚未做正式调研——这也是下一步要补的。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一个平台，三端服务三种人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" y="1312735"/>
            <a:ext cx="3721608" cy="2367153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eside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7599"/>
            <a:ext cx="3611880" cy="2257425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502920" y="3785615"/>
            <a:ext cx="3611880" cy="512064"/>
          </a:xfrm>
          <a:prstGeom prst="roundRect">
            <a:avLst>
              <a:gd name="adj" fmla="val 18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785615"/>
            <a:ext cx="36118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70831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一句话报修、提问、议事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312735"/>
            <a:ext cx="3721608" cy="2367153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grid_wor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367599"/>
            <a:ext cx="3611880" cy="2257425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1" name="Rounded Rectangle 10"/>
          <p:cNvSpPr/>
          <p:nvPr/>
        </p:nvSpPr>
        <p:spPr>
          <a:xfrm>
            <a:off x="4370832" y="3785615"/>
            <a:ext cx="3611880" cy="512064"/>
          </a:xfrm>
          <a:prstGeom prst="roundRect">
            <a:avLst>
              <a:gd name="adj" fmla="val 18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0832" y="3785615"/>
            <a:ext cx="36118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4370831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工单督办、待办提醒、数据决策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304" y="1243584"/>
            <a:ext cx="1216758" cy="2505456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hone_weath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168" y="1298448"/>
            <a:ext cx="1107030" cy="2395728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6" name="Rounded Rectangle 15"/>
          <p:cNvSpPr/>
          <p:nvPr/>
        </p:nvSpPr>
        <p:spPr>
          <a:xfrm>
            <a:off x="8238744" y="3785615"/>
            <a:ext cx="3611880" cy="512064"/>
          </a:xfrm>
          <a:prstGeom prst="roundRect">
            <a:avLst>
              <a:gd name="adj" fmla="val 18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3785615"/>
            <a:ext cx="36118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4370831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大字 · 语音 · 长按求助 · 免登录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37760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76656" y="5129784"/>
            <a:ext cx="1298448" cy="475488"/>
          </a:xfrm>
          <a:prstGeom prst="roundRect">
            <a:avLst>
              <a:gd name="adj" fmla="val 28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5129784"/>
            <a:ext cx="129844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移动端适配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7984" y="5047488"/>
            <a:ext cx="9326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手机 / 平板 / 电脑浏览器自适应，打开即用——居民、老人免下载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5394960"/>
            <a:ext cx="9372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触屏热区 ≥44px · 输入防 iOS 自动放大 · 刘海安全区 · 禁下拉刷新防误触 SOS · 网格端手机变抽屉 · 老年端横屏提示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16752"/>
            <a:ext cx="11155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先看一张功能全景，再讲它怎么搭、怎么协作。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功能全景：三端各干什么，底座共用什么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575304" cy="640080"/>
          </a:xfrm>
          <a:prstGeom prst="roundRect">
            <a:avLst>
              <a:gd name="adj" fmla="val 10000"/>
            </a:avLst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44168"/>
            <a:ext cx="3575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36776"/>
            <a:ext cx="35753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DE7F8"/>
                </a:solidFill>
                <a:latin typeface="微软雅黑"/>
                <a:ea typeface="微软雅黑"/>
                <a:cs typeface="微软雅黑"/>
              </a:rPr>
              <a:t>自己说事 · 议事 · 问事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85800" y="2441448"/>
            <a:ext cx="109728" cy="109728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121408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一句话报修，进度可查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54096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3374136"/>
            <a:ext cx="109728" cy="109728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3054096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政策问答，回答挂依据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86783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4306824"/>
            <a:ext cx="109728" cy="109728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6968" y="3986783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邻里议事：提案·讨论·投票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280160"/>
            <a:ext cx="3575304" cy="640080"/>
          </a:xfrm>
          <a:prstGeom prst="roundRect">
            <a:avLst>
              <a:gd name="adj" fmla="val 1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06824" y="1344168"/>
            <a:ext cx="3575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1636776"/>
            <a:ext cx="35753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DE7F8"/>
                </a:solidFill>
                <a:latin typeface="微软雅黑"/>
                <a:ea typeface="微软雅黑"/>
                <a:cs typeface="微软雅黑"/>
              </a:rPr>
              <a:t>督办 · 处置 · 决策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6824" y="2121408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489704" y="2441448"/>
            <a:ext cx="109728" cy="109728"/>
          </a:xfrm>
          <a:prstGeom prst="ellipse">
            <a:avLst/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2121408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一个工作台，待办全在这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06824" y="3054096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89704" y="3374136"/>
            <a:ext cx="109728" cy="109728"/>
          </a:xfrm>
          <a:prstGeom prst="ellipse">
            <a:avLst/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90872" y="3054096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工单全程留痕，责任到人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3986783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489704" y="4306824"/>
            <a:ext cx="109728" cy="109728"/>
          </a:xfrm>
          <a:prstGeom prst="ellipse">
            <a:avLst/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90872" y="3986783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AI 助手：问数据、要导出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0728" y="1280160"/>
            <a:ext cx="3575304" cy="640080"/>
          </a:xfrm>
          <a:prstGeom prst="roundRect">
            <a:avLst>
              <a:gd name="adj" fmla="val 1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10728" y="1344168"/>
            <a:ext cx="3575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1636776"/>
            <a:ext cx="35753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E7D2"/>
                </a:solidFill>
                <a:latin typeface="微软雅黑"/>
                <a:ea typeface="微软雅黑"/>
                <a:cs typeface="微软雅黑"/>
              </a:rPr>
              <a:t>不打字，也能办成事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10728" y="2121408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93608" y="2441448"/>
            <a:ext cx="109728" cy="109728"/>
          </a:xfrm>
          <a:prstGeom prst="ellipse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94776" y="2121408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大字大按钮，免登录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0728" y="3054096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293608" y="3374136"/>
            <a:ext cx="109728" cy="109728"/>
          </a:xfrm>
          <a:prstGeom prst="ellipse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4776" y="3054096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语音报修，快捷大按钮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0728" y="3986783"/>
            <a:ext cx="3575304" cy="749808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293608" y="4306824"/>
            <a:ext cx="109728" cy="109728"/>
          </a:xfrm>
          <a:prstGeom prst="ellipse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94776" y="3986783"/>
            <a:ext cx="302666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长按 3 秒求助，防误触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047488"/>
            <a:ext cx="11183112" cy="932688"/>
          </a:xfrm>
          <a:prstGeom prst="roundRect">
            <a:avLst>
              <a:gd name="adj" fmla="val 8000"/>
            </a:avLst>
          </a:prstGeom>
          <a:solidFill>
            <a:srgbClr val="1B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平台底座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9C6DC"/>
                </a:solidFill>
                <a:latin typeface="微软雅黑"/>
                <a:ea typeface="微软雅黑"/>
                <a:cs typeface="微软雅黑"/>
              </a:rPr>
              <a:t>三端共用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5688" y="5202936"/>
            <a:ext cx="2224277" cy="621792"/>
          </a:xfrm>
          <a:prstGeom prst="roundRect">
            <a:avLst>
              <a:gd name="adj" fmla="val 1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12264" y="5202936"/>
            <a:ext cx="215112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 智能体黑板协作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D6EC"/>
                </a:solidFill>
                <a:latin typeface="微软雅黑"/>
                <a:ea typeface="微软雅黑"/>
                <a:cs typeface="微软雅黑"/>
              </a:rPr>
              <a:t>校验 · 仲裁 · 合规否决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46270" y="5202936"/>
            <a:ext cx="2224277" cy="621792"/>
          </a:xfrm>
          <a:prstGeom prst="roundRect">
            <a:avLst>
              <a:gd name="adj" fmla="val 1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82846" y="5202936"/>
            <a:ext cx="215112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规则为主 LLM 为辅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D6EC"/>
                </a:solidFill>
                <a:latin typeface="微软雅黑"/>
                <a:ea typeface="微软雅黑"/>
                <a:cs typeface="微软雅黑"/>
              </a:rPr>
              <a:t>三道防编造兜底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16852" y="5202936"/>
            <a:ext cx="2224277" cy="621792"/>
          </a:xfrm>
          <a:prstGeom prst="roundRect">
            <a:avLst>
              <a:gd name="adj" fmla="val 1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3428" y="5202936"/>
            <a:ext cx="215112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手机号加密 · 脱敏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D6EC"/>
                </a:solidFill>
                <a:latin typeface="微软雅黑"/>
                <a:ea typeface="微软雅黑"/>
                <a:cs typeface="微软雅黑"/>
              </a:rPr>
              <a:t>全程审计留痕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87434" y="5202936"/>
            <a:ext cx="2224277" cy="621792"/>
          </a:xfrm>
          <a:prstGeom prst="roundRect">
            <a:avLst>
              <a:gd name="adj" fmla="val 1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24009" y="5202936"/>
            <a:ext cx="215112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转人工上下文同步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D6EC"/>
                </a:solidFill>
                <a:latin typeface="微软雅黑"/>
                <a:ea typeface="微软雅黑"/>
                <a:cs typeface="微软雅黑"/>
              </a:rPr>
              <a:t>断网 / 无 Key 自动降级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371600"/>
            <a:ext cx="101041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1371600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三端：居民 / 网格员 / 老年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Vue3 + Naive UI，已构建为静态文件，无需 Node 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10104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487168"/>
            <a:ext cx="10104120" cy="841248"/>
          </a:xfrm>
          <a:prstGeom prst="roundRect">
            <a:avLst>
              <a:gd name="adj" fmla="val 10000"/>
            </a:avLst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2487168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接口 · 鉴权 · 安全响应头 · 实时通知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28416"/>
            <a:ext cx="10104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602736"/>
            <a:ext cx="10104120" cy="1298448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3712463"/>
            <a:ext cx="9555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9 个智能体角色 · 黑板协作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5880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50008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50008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74136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98264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22392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22392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70648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70648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4776" y="4224528"/>
            <a:ext cx="932688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94776" y="4224528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4224528"/>
            <a:ext cx="1143000" cy="384048"/>
          </a:xfrm>
          <a:prstGeom prst="roundRect">
            <a:avLst>
              <a:gd name="adj" fmla="val 3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18904" y="4224528"/>
            <a:ext cx="1143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901184"/>
            <a:ext cx="10104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" y="5175504"/>
            <a:ext cx="10104120" cy="841248"/>
          </a:xfrm>
          <a:prstGeom prst="roundRect">
            <a:avLst>
              <a:gd name="adj" fmla="val 10000"/>
            </a:avLst>
          </a:prstGeom>
          <a:solidFill>
            <a:srgbClr val="1B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25880" y="5175504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本地数据库 SQLite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50 张表 · 手机号 AES-256-GCM 加密 · 全程留痕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14476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整条链路不依赖外部服务，一台普通电脑就能跑起来。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59" y="141732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51959" y="141732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41732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9748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269748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59" y="269748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69748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269748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4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97764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59" y="397764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59" y="3977640"/>
            <a:ext cx="352044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3977640"/>
            <a:ext cx="3520440" cy="1024128"/>
          </a:xfrm>
          <a:prstGeom prst="roundRect">
            <a:avLst>
              <a:gd name="adj" fmla="val 1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3977640"/>
            <a:ext cx="333756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E7D2"/>
                </a:solidFill>
                <a:latin typeface="微软雅黑"/>
                <a:ea typeface="微软雅黑"/>
                <a:cs typeface="微软雅黑"/>
              </a:rPr>
              <a:t>一票否决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57800"/>
            <a:ext cx="35204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109728" cy="841248"/>
          </a:xfrm>
          <a:prstGeom prst="roundRect">
            <a:avLst>
              <a:gd name="adj" fmla="val 50000"/>
            </a:avLst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376672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3D4"/>
                </a:solidFill>
                <a:latin typeface="微软雅黑"/>
                <a:ea typeface="微软雅黑"/>
                <a:cs typeface="微软雅黑"/>
              </a:rPr>
              <a:t>发起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接待员 · 天气守护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59" y="5257800"/>
            <a:ext cx="35204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51959" y="5257800"/>
            <a:ext cx="109728" cy="841248"/>
          </a:xfrm>
          <a:prstGeom prst="roundRect">
            <a:avLst>
              <a:gd name="adj" fmla="val 5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26279" y="5376672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处理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调度 / 政策 / 健康 / 通知…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5257800"/>
            <a:ext cx="35204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001000" y="5257800"/>
            <a:ext cx="109728" cy="84124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75320" y="5376672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把关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合规审计一票否决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416052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17904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一块黑板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带锁、带版本、带历史，所有角色共享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42032"/>
            <a:ext cx="416052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8833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5 种消息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90672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请求 · 响应 · 通知 · 错误 · 转交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12464"/>
            <a:ext cx="416052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385876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两道关卡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校验员查编造 / 敏感词 / 越权；仲裁器定优先级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82896"/>
            <a:ext cx="4160520" cy="102412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502920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一票否决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431536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合规审计说不通过，这条消息就发不出去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298448"/>
            <a:ext cx="6720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一次极端天气，角色自己接起这条链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1664208"/>
            <a:ext cx="6720840" cy="713232"/>
          </a:xfrm>
          <a:prstGeom prst="roundRect">
            <a:avLst>
              <a:gd name="adj" fmla="val 14000"/>
            </a:avLst>
          </a:prstGeom>
          <a:solidFill>
            <a:srgbClr val="EAF0FB"/>
          </a:solidFill>
          <a:ln w="17780">
            <a:solidFill>
              <a:srgbClr val="2F63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02936" y="1746504"/>
            <a:ext cx="63093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天气守护员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066544"/>
            <a:ext cx="63093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监测到暴雨 / 高温，在黑板发出 task_request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395728"/>
            <a:ext cx="6720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↓ 自动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670048"/>
            <a:ext cx="6720840" cy="713232"/>
          </a:xfrm>
          <a:prstGeom prst="roundRect">
            <a:avLst>
              <a:gd name="adj" fmla="val 14000"/>
            </a:avLst>
          </a:prstGeom>
          <a:solidFill>
            <a:srgbClr val="EAF0FB"/>
          </a:solidFill>
          <a:ln w="17780">
            <a:solidFill>
              <a:srgbClr val="2F63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02936" y="2752344"/>
            <a:ext cx="63093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3072384"/>
            <a:ext cx="63093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生成对应的疾病防护建议，回到黑板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401568"/>
            <a:ext cx="6720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↓ 自动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80" y="3675887"/>
            <a:ext cx="6720840" cy="713232"/>
          </a:xfrm>
          <a:prstGeom prst="roundRect">
            <a:avLst>
              <a:gd name="adj" fmla="val 14000"/>
            </a:avLst>
          </a:prstGeom>
          <a:solidFill>
            <a:srgbClr val="EAF0FB"/>
          </a:solidFill>
          <a:ln w="17780">
            <a:solidFill>
              <a:srgbClr val="2F63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02936" y="3758183"/>
            <a:ext cx="63093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通知管理员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2936" y="4078224"/>
            <a:ext cx="63093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给受影响居民群发通知（notify）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4498848"/>
            <a:ext cx="6720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报修里发现安全隐患 → 自动升级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80" y="4809744"/>
            <a:ext cx="3200400" cy="841248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 w="17780">
            <a:solidFill>
              <a:srgbClr val="2F63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60" y="4919472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报修调度员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识别“燃气味”等隐患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4809744"/>
            <a:ext cx="3840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13648" y="4809744"/>
            <a:ext cx="3090672" cy="841248"/>
          </a:xfrm>
          <a:prstGeom prst="roundRect">
            <a:avLst>
              <a:gd name="adj" fmla="val 12000"/>
            </a:avLst>
          </a:prstGeom>
          <a:solidFill>
            <a:srgbClr val="FCEBDD"/>
          </a:solidFill>
          <a:ln w="20320">
            <a:solidFill>
              <a:srgbClr val="ED7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96528" y="491947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通知管理员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升级为紧急通知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5797296"/>
            <a:ext cx="6720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联动是角色收到消息后运行时接起的，不是写死的流程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AI 被关在笼子里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0" y="566928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38160" y="56692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按规则分工协作，不是全自主智能体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532120" cy="22402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029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交给大模型</a:t>
            </a:r>
            <a:endParaRPr sz="1600" b="1" dirty="0">
              <a:solidFill>
                <a:srgbClr val="2750B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77240" y="2057400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意图识别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32888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532888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追问补全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08376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08376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政策回答生成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532120" cy="2240280"/>
          </a:xfrm>
          <a:prstGeom prst="roundRect">
            <a:avLst>
              <a:gd name="adj" fmla="val 6000"/>
            </a:avLst>
          </a:prstGeom>
          <a:solidFill>
            <a:srgbClr val="FC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5544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永远走规则，不交给模型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57400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057400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状态机流转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532888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2532888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派单与权限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008376"/>
            <a:ext cx="498348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3008376"/>
            <a:ext cx="4983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数据加密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40480"/>
            <a:ext cx="11292840" cy="105156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968496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三道防编造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7083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① 政策回答强制挂知识库出处　　② 回答完回查数据库　　③ 敏感词 + 权限再审计；查不到就转人工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57800"/>
            <a:ext cx="11292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四个 LLM 开关默认关 · 每次调用 3–5 秒超时自动回落规则 —— 省成本，也保稳定，学生项目也养得起。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居民端 · 报修，一句话说清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60020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不用选分类、挑部门，说一句「我家水管漏水了」就行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60604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它追问关键一两项，帮你把报修单整理好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61188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最后必须自己点「确认提交」，它不替你提交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1772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461772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识别燃气味等安全隐患，自动升级紧急通知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91456" y="1565054"/>
            <a:ext cx="7013448" cy="3627307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repair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19918"/>
            <a:ext cx="6903720" cy="3517579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4846320" y="5321808"/>
            <a:ext cx="6903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也保留传统手动填报表单，愿意逐条填写的人照样能用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居民端 · 问政策、议事情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2483"/>
            <a:ext cx="3721608" cy="2367153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olicy_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347"/>
            <a:ext cx="3611880" cy="2257425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502920" y="4206240"/>
            <a:ext cx="3611880" cy="54864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20624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答案挂知识库依据，标注适用地区，查不到转人工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82483"/>
            <a:ext cx="3721608" cy="2367153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ropo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637347"/>
            <a:ext cx="3611880" cy="2257425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3" name="Rounded Rectangle 12"/>
          <p:cNvSpPr/>
          <p:nvPr/>
        </p:nvSpPr>
        <p:spPr>
          <a:xfrm>
            <a:off x="4370832" y="4206240"/>
            <a:ext cx="3611880" cy="54864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0832" y="420624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邻里议事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489204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可提提案、邻居附议，社区必须给回应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582483"/>
            <a:ext cx="3721608" cy="2367153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not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1637347"/>
            <a:ext cx="3611880" cy="2257425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8" name="Rounded Rectangle 17"/>
          <p:cNvSpPr/>
          <p:nvPr/>
        </p:nvSpPr>
        <p:spPr>
          <a:xfrm>
            <a:off x="8238744" y="4206240"/>
            <a:ext cx="3611880" cy="54864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8744" y="420624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750B0"/>
                </a:solidFill>
                <a:latin typeface="微软雅黑"/>
                <a:ea typeface="微软雅黑"/>
                <a:cs typeface="微软雅黑"/>
              </a:rPr>
              <a:t>社区通知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489204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普通 / 紧急 / 定时三类，发出有已读回执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网格员端 · 一个工作台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60020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今天待办：哪些要派、哪些要回访，一眼清楚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60604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红黑榜：谁解决快、谁超时，点一下下钻到工单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61188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批量派单 / 关闭：勾几条一起处理，原因必填留痕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17720"/>
            <a:ext cx="416052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4617720"/>
            <a:ext cx="3703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AI 助手：大白话问数，按条件筛选导出周报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371600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今日待办概览（真实系统 · 局部放大）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28616" y="1591646"/>
            <a:ext cx="6876288" cy="1599018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as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46510"/>
            <a:ext cx="6766560" cy="1489290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7" name="TextBox 16"/>
          <p:cNvSpPr txBox="1"/>
          <p:nvPr/>
        </p:nvSpPr>
        <p:spPr>
          <a:xfrm>
            <a:off x="4983480" y="3200400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待处理 / 处理中 / 待审核 / 已结案，还有 AI 自解决率，一屏看清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529584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安全隐患自动置顶（红框＝重点）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28616" y="3751490"/>
            <a:ext cx="6876288" cy="1275259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sh_ur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806354"/>
            <a:ext cx="6766560" cy="1165531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4983480" y="502920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“燃气味”被判为紧急，红色置顶，催网格员立刻处理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5650992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↑ AI 助手查的是库里真实数据，查不到就直说，不编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网格员端 · 留痕，和盯住老人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244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工单全程留痕（局部放大 · 红框＝必填）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1665061"/>
            <a:ext cx="5550408" cy="1671645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trace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9925"/>
            <a:ext cx="5440680" cy="1561917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48640" y="3401568"/>
            <a:ext cx="5349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退回必须写意见、关闭必须填原因；谁在什么时候动过，事后能复盘。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老年关怀审核（局部放大）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665718"/>
            <a:ext cx="5550408" cy="1597179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are_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20582"/>
            <a:ext cx="5440680" cy="1487451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309359" y="3401568"/>
            <a:ext cx="5349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用药提醒、紧急联系人审核后才生效；老人求助要网格员确认响应。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1B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5047488"/>
            <a:ext cx="111831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关键动作全部留痕 · 有审核 · 能追责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D6EC"/>
                </a:solidFill>
                <a:latin typeface="微软雅黑"/>
                <a:ea typeface="微软雅黑"/>
                <a:cs typeface="微软雅黑"/>
              </a:rPr>
              <a:t>退回原因 / 派单人员与电话 / 关闭原因 / 关怀审核 / SOS 响应确认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老人端 · 看得见，按得动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783080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不是把居民端放大，是重做的：字大、按钮大、免登录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62072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862072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首页就六件事：天气、通知、报修、联系人、用药、求助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41063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941063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天气和帮助都能语音念出来，不认字的老人也能用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4456" y="1285083"/>
            <a:ext cx="2167128" cy="4562152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phone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39947"/>
            <a:ext cx="2057400" cy="4452424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4" name="Rounded Rectangle 13"/>
          <p:cNvSpPr/>
          <p:nvPr/>
        </p:nvSpPr>
        <p:spPr>
          <a:xfrm>
            <a:off x="8586215" y="1285083"/>
            <a:ext cx="2167128" cy="4562152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hone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339947"/>
            <a:ext cx="2057400" cy="4452424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老人端 · 不会打字，也能办事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530352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78440" y="530352"/>
            <a:ext cx="132588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4846320" cy="74980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554480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点现成的话：大按钮「家里灯不亮了」「医保怎么报」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32304"/>
            <a:ext cx="4846320" cy="74980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按住说话，语音报修；嘈杂环境也能点大按钮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10128"/>
            <a:ext cx="4846320" cy="74980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310128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用药提醒到点响，就两个键：我吃了 / 十分钟后再说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87952"/>
            <a:ext cx="4846320" cy="74980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4187952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紧急求助长按 3 秒、再确认一次，10 秒不点自动取消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4456" y="1285083"/>
            <a:ext cx="2167128" cy="4562152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hone_m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39947"/>
            <a:ext cx="2057400" cy="4452424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6" name="Rounded Rectangle 15"/>
          <p:cNvSpPr/>
          <p:nvPr/>
        </p:nvSpPr>
        <p:spPr>
          <a:xfrm>
            <a:off x="8586215" y="1285083"/>
            <a:ext cx="2167128" cy="4562152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phone_emerg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339947"/>
            <a:ext cx="2057400" cy="4452424"/>
          </a:xfrm>
          <a:prstGeom prst="rect">
            <a:avLst/>
          </a:prstGeom>
          <a:ln w="12700">
            <a:solidFill>
              <a:srgbClr val="D8DEE8"/>
            </a:solidFill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502920" y="5806440"/>
            <a:ext cx="493776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900" b="1" dirty="0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但是现在对于老人的口音会识别不准确</a:t>
            </a:r>
            <a:endParaRPr sz="1900" b="1" dirty="0">
              <a:solidFill>
                <a:srgbClr val="ED7D2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F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5740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31089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12079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00" b="1" dirty="0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条金标 </a:t>
            </a:r>
            <a:r>
              <a:rPr lang="en-US" altLang="zh-CN" sz="1700" b="1" dirty="0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lang="zh-CN" altLang="en-US" sz="1700" b="1" dirty="0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第一位命中 </a:t>
            </a:r>
            <a:r>
              <a:rPr lang="en-US" altLang="zh-CN" sz="1700" b="1" dirty="0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100%</a:t>
            </a:r>
            <a:endParaRPr sz="1700" b="1" dirty="0">
              <a:solidFill>
                <a:srgbClr val="ED7D2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9C6DC"/>
                </a:solidFill>
                <a:latin typeface="微软雅黑"/>
                <a:ea typeface="微软雅黑"/>
                <a:cs typeface="微软雅黑"/>
              </a:rPr>
              <a:t>数据库 schema v46 · 约 50 张表　｜　均为本机自测、非第三方测评，现场可复算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F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FAEC4"/>
                </a:solidFill>
                <a:latin typeface="微软雅黑"/>
                <a:ea typeface="微软雅黑"/>
                <a:cs typeface="微软雅黑"/>
              </a:rPr>
              <a:t>社区先知 · CommunityInsight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84831"/>
            <a:ext cx="1072591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谢谢各位老师</a:t>
            </a:r>
          </a:p>
        </p:txBody>
      </p:sp>
      <p:sp>
        <p:nvSpPr>
          <p:cNvPr id="4" name="Rectangle 3"/>
          <p:cNvSpPr/>
          <p:nvPr/>
        </p:nvSpPr>
        <p:spPr>
          <a:xfrm>
            <a:off x="5367528" y="3456432"/>
            <a:ext cx="1463040" cy="50292"/>
          </a:xfrm>
          <a:prstGeom prst="rect">
            <a:avLst/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88289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8E0F0"/>
                </a:solidFill>
                <a:latin typeface="微软雅黑"/>
                <a:ea typeface="微软雅黑"/>
                <a:cs typeface="微软雅黑"/>
              </a:rPr>
              <a:t>步承泽 · 北京工商大学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21808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AEC4"/>
                </a:solidFill>
                <a:latin typeface="微软雅黑"/>
                <a:ea typeface="微软雅黑"/>
                <a:cs typeface="微软雅黑"/>
              </a:rPr>
              <a:t>社区接诉即办 · 多智能体平台　|　敬请批评指正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FAEC4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FAEC4"/>
                </a:solidFill>
                <a:latin typeface="微软雅黑"/>
                <a:ea typeface="微软雅黑"/>
                <a:cs typeface="微软雅黑"/>
              </a:rPr>
              <a:t>17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11292840" cy="86868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789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工程原型：功能能跑、测试在；但还没在真实街道试点，没有运营数据，商业模式在探索。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548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68880"/>
            <a:ext cx="7863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多智能体的「自动」边界该划在哪？哪些必须留给人确认？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468880"/>
            <a:ext cx="22860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3814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38144"/>
            <a:ext cx="548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38144"/>
            <a:ext cx="7863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第一个试点社区，该怎么找、怎么开口谈？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438144"/>
            <a:ext cx="22860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0740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407408"/>
            <a:ext cx="548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07408"/>
            <a:ext cx="7863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没有历史工单数据时，冷启动怎么破？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407408"/>
            <a:ext cx="22860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8064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7D2E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16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61488"/>
            <a:ext cx="1051560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761488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85616"/>
            <a:ext cx="1051560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785616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手机号 AES-256-GCM 加密存储，展示与导出脱敏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09744"/>
            <a:ext cx="10515600" cy="841248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4809744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SQL 参数化，防注入；合规审计员有一票否决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2531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A95A6"/>
                </a:solidFill>
                <a:latin typeface="微软雅黑"/>
                <a:ea typeface="微软雅黑"/>
                <a:cs typeface="微软雅黑"/>
              </a:rPr>
              <a:t>被问「会不会编造 / 数据安全吗」时翻到这页。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55448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双击项目文件夹里的「启动演示」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46888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等它提示服务就绪（首次约 10–20 秒，会自动建好数据库）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383280"/>
            <a:ext cx="640080" cy="640080"/>
          </a:xfrm>
          <a:prstGeom prst="ellipse">
            <a:avLst/>
          </a:prstGeom>
          <a:solidFill>
            <a:srgbClr val="2F6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38328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浏览器自动打开登录页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681728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4406E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环境：Windows + Python 3.10 以上（依赖按随包运行说明装好）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2836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457200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ED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20624"/>
            <a:ext cx="9326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92840" cy="1078992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角色靠黑板消息真来往，联动是运行时决定的；内核规则驱动，不是全自主大模型智能体。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24328"/>
            <a:ext cx="11292840" cy="10789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31336"/>
            <a:ext cx="11292840" cy="1078992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79976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38344"/>
            <a:ext cx="11292840" cy="107899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157216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2F52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86984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E"/>
                </a:solidFill>
                <a:latin typeface="微软雅黑"/>
                <a:ea typeface="微软雅黑"/>
                <a:cs typeface="微软雅黑"/>
              </a:rPr>
              <a:t>可能是政府购买服务，但付费方和定价完全没有验证过。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949</Words>
  <Application>Microsoft Office PowerPoint</Application>
  <PresentationFormat>宽屏</PresentationFormat>
  <Paragraphs>257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fengsu woshuo</cp:lastModifiedBy>
  <cp:revision>5</cp:revision>
  <dcterms:created xsi:type="dcterms:W3CDTF">2013-01-27T09:14:16Z</dcterms:created>
  <dcterms:modified xsi:type="dcterms:W3CDTF">2026-09-20T16:58:20Z</dcterms:modified>
  <cp:category/>
</cp:coreProperties>
</file>